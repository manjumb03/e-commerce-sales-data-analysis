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41" autoAdjust="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CA173-7E7A-4366-8173-68152051EB9E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E01B5-3A2C-4D61-AA06-72B6DAE8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349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E01B5-3A2C-4D61-AA06-72B6DAE801B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631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82DD-1BA5-AF3B-B5A9-C846EB700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8BD0C5-049B-D842-E2A3-6428F68E0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F7051-EBF9-B71E-31E7-FE0BA290A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4E046-4CD0-02C5-5145-8440364E3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E454F-AF84-0B48-CB7D-3542BD36B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371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3AF2-390B-685E-099C-5716B874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9DC78-CA71-156B-2822-8492CD92F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DCD57-76CF-9B1D-B6CF-0C037E69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38DA2-AEF7-25CF-9FAD-C8CAF2A5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ED9DE-76D4-F2FB-DFE8-A6429B9C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7274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AD04-176E-751A-D889-FC81787D0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781A2-7165-6523-64C8-F50CE4009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CBE72-8900-7E02-D06C-9785EDBC1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F0345-AD75-97A5-EB6F-23C403446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EE1CF-D892-5689-12FD-F70C0806F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26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8CCA6-842C-9986-8A7F-09E85DCB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911D9-1407-E3AF-1DE7-C5DC77B55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5DF90-2D43-FCB0-F703-44DE8352A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ECF76-80BC-3813-3077-BA1CF00E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E073C4-BF16-7DD6-9BDB-90F92FC99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32303F-19D0-2E1E-6FF5-2AF04EEFF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5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D5A2-FB69-92CC-A41A-6636D363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B6A8F-3CA2-6E6E-3CB2-482D71C59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EE239A-9F32-3A2E-6EDA-F2840E48E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63D7B-185A-3BB8-F1C9-9F06F203A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C9ADF-7D27-DB57-0CB7-93DDDCDCBE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DF842-6BD6-BDC0-D56E-C2CCE90E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A872-ACDF-FD96-EA98-0F8B0099C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38EFF-19D1-EAD8-811B-98E58070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359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67223-88A9-A313-B16E-BE47144E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929AEA-8B57-7398-BA3A-60156235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87FCE-3711-6C72-7C82-430D9DBD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5CE00-DBA3-7FC2-4FE4-4DF1DA78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245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55B086-5984-30EF-AB3F-FC3F15DA1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FD29F1-FB55-2C83-8A37-C3BE8E615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E5620-6778-3011-C240-802C5A13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40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F061-29B3-184A-3A04-C615A62E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10E2A-CCE4-DC57-687B-82E9DA2C6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DF07F-3048-7522-C0CC-25E2C3009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F7548-9C81-3501-9665-444373390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F46CA-C2E9-862F-B3F3-291FAC7A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8E563C-752D-AD4C-5FFE-6BDC68A6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02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541A3-9956-56AD-2888-82C56F03A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76360B-DB79-2B7F-E931-92EDA233B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949B2-6A77-6D5F-0600-B2F8DFD76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27CED-3628-B86C-3325-C8F28EE1D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80B7E-701B-14E8-B1F7-B59BB34A8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C2E2E-5F37-3817-2973-57B51650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30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A9C2-5638-F683-1BF6-CCE3D97A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C15E6-BF03-537C-A7F8-8EF03412C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CD406-C0E3-F129-892B-A651F85C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B4F40-4DE2-EA61-DF55-B6A32C6D5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DE88D-E8ED-92F8-5D53-DB901EB0A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506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9A1C3F-9FB5-2095-A035-30601B6694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767B27-F96A-6717-6269-B0A1E08A1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D8172-D920-5AE8-31D9-A4C6E9B8C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51B0D-F436-0029-1B44-0D82363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F553-1CC8-E66A-18A9-2461B99A3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43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F56A08-B2E1-A522-C801-3224333C6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790F0-B1D9-7064-E9D6-058385FA3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13AC5-28B0-60F9-800C-8085F268D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1A875-E96D-4EBF-AA2B-DB2B02413DA1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D4FAE-3265-C1F3-2A58-F2A8D94C47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57C18-40D7-7356-DCD0-9857A28C5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7C197-EE29-49AE-817C-E21DC18E88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45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85F53-4393-C614-FC45-11E427464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7484" y="328773"/>
            <a:ext cx="6782718" cy="251716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ptos Display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E-Commerce Sales Analysis</a:t>
            </a:r>
            <a:br>
              <a:rPr lang="en-US" b="1" dirty="0">
                <a:latin typeface="Aptos Display" panose="020B000402020202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AB13B-130C-62C6-D90F-CD6B28D41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5171" y="2653813"/>
            <a:ext cx="4647344" cy="1621987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Aptos Display" panose="020B0004020202020204" pitchFamily="34" charset="0"/>
                <a:ea typeface="Inter" pitchFamily="34" charset="-122"/>
                <a:cs typeface="Inter" pitchFamily="34" charset="-120"/>
              </a:rPr>
              <a:t> DATA ANALYSTS &amp; DATA SCIENTISTS</a:t>
            </a:r>
            <a:endParaRPr lang="en-US" sz="2000" b="1" dirty="0">
              <a:latin typeface="Aptos Display" panose="020B0004020202020204" pitchFamily="34" charset="0"/>
            </a:endParaRPr>
          </a:p>
          <a:p>
            <a:endParaRPr lang="en-IN" sz="20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35342A2-849D-84A1-E954-D670E7ED4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647344" cy="6858001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512364D-882C-76F9-1AE0-5F9A68921904}"/>
              </a:ext>
            </a:extLst>
          </p:cNvPr>
          <p:cNvSpPr/>
          <p:nvPr/>
        </p:nvSpPr>
        <p:spPr>
          <a:xfrm>
            <a:off x="4107011" y="1515861"/>
            <a:ext cx="5023464" cy="94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endParaRPr lang="en-US" sz="5400" b="1" dirty="0">
              <a:latin typeface="Aptos Display" panose="020B0004020202020204" pitchFamily="34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90D7514D-52E1-AAEF-0214-81E97564C3A3}"/>
              </a:ext>
            </a:extLst>
          </p:cNvPr>
          <p:cNvSpPr/>
          <p:nvPr/>
        </p:nvSpPr>
        <p:spPr>
          <a:xfrm>
            <a:off x="6280190" y="1083382"/>
            <a:ext cx="5023464" cy="2427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2800" b="1" dirty="0">
              <a:latin typeface="Aptos Display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9EF006-58A7-2831-28F8-CAD73D9FBA22}"/>
              </a:ext>
            </a:extLst>
          </p:cNvPr>
          <p:cNvSpPr txBox="1"/>
          <p:nvPr/>
        </p:nvSpPr>
        <p:spPr>
          <a:xfrm>
            <a:off x="8679126" y="6092023"/>
            <a:ext cx="3626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Manjunath M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Bandiwaddar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08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83E71-6658-878F-78DB-2652EBC75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46" y="7650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Aptos Display" panose="020B0004020202020204" pitchFamily="34" charset="0"/>
              </a:rPr>
              <a:t>E- Commerce Sales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BD70A7-02B2-0EFA-368B-66B2C8A60A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0967" y="1926737"/>
            <a:ext cx="5322013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is one of the fastest-growing industries.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Analyzing sales data helps identify trends, customer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preferences, and business opportunities.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exploring sales patterns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extracting meaningful insights to support decision-making.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1D8BBB6-89BB-A0AF-1B55-E234F7C82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254" y="1171254"/>
            <a:ext cx="5686746" cy="568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2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FF64A-A302-A6B2-FEDF-E7B4BB40B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4450"/>
              </a:lnSpc>
            </a:pPr>
            <a:r>
              <a:rPr lang="en-US" b="1" dirty="0">
                <a:latin typeface="Aptos Display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Key Objectives: Unlocking Sales Performance</a:t>
            </a:r>
            <a:endParaRPr lang="en-US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B1EAD-5977-3607-4A25-A5323BF8B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407" y="2061539"/>
            <a:ext cx="11137186" cy="48021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Monthly Sales Performance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Identify peak and lowest sales months to understand seasonality and demand fluctuations.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Product Category Analysis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Determine top-performing and underperforming product categories for strategic inventory  management.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Sub-Category Deep Dive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    Further refine product insights by analyzing sales at the sub-category level.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706DE4B-17AD-8A49-39B3-DA8F8EFA5656}"/>
              </a:ext>
            </a:extLst>
          </p:cNvPr>
          <p:cNvSpPr/>
          <p:nvPr/>
        </p:nvSpPr>
        <p:spPr>
          <a:xfrm>
            <a:off x="793790" y="2417326"/>
            <a:ext cx="952690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endParaRPr lang="en-US" sz="35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2EB83B1-77C2-F62E-4059-CCEF56679F2E}"/>
              </a:ext>
            </a:extLst>
          </p:cNvPr>
          <p:cNvSpPr/>
          <p:nvPr/>
        </p:nvSpPr>
        <p:spPr>
          <a:xfrm>
            <a:off x="878860" y="348043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8FEDD92D-0E6E-842B-E5D1-FF1B106FFC11}"/>
              </a:ext>
            </a:extLst>
          </p:cNvPr>
          <p:cNvSpPr/>
          <p:nvPr/>
        </p:nvSpPr>
        <p:spPr>
          <a:xfrm>
            <a:off x="1530906" y="351579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4E08CD3-98F5-DC98-B422-0354B3449E98}"/>
              </a:ext>
            </a:extLst>
          </p:cNvPr>
          <p:cNvSpPr/>
          <p:nvPr/>
        </p:nvSpPr>
        <p:spPr>
          <a:xfrm>
            <a:off x="1530906" y="4360545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4A7E738-B800-5344-99E7-FAE4A5E6BF3F}"/>
              </a:ext>
            </a:extLst>
          </p:cNvPr>
          <p:cNvSpPr/>
          <p:nvPr/>
        </p:nvSpPr>
        <p:spPr>
          <a:xfrm>
            <a:off x="5973008" y="351579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13FF0EF-7F8B-0023-767E-26515CCC88BB}"/>
              </a:ext>
            </a:extLst>
          </p:cNvPr>
          <p:cNvSpPr/>
          <p:nvPr/>
        </p:nvSpPr>
        <p:spPr>
          <a:xfrm>
            <a:off x="5973008" y="4360545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5A729AC-29DB-8D76-0C1A-C3BF8BFB5016}"/>
              </a:ext>
            </a:extLst>
          </p:cNvPr>
          <p:cNvSpPr/>
          <p:nvPr/>
        </p:nvSpPr>
        <p:spPr>
          <a:xfrm>
            <a:off x="10415111" y="3515797"/>
            <a:ext cx="32783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A11A7FA-7D98-811B-4AE0-1CE1579BD43B}"/>
              </a:ext>
            </a:extLst>
          </p:cNvPr>
          <p:cNvSpPr/>
          <p:nvPr/>
        </p:nvSpPr>
        <p:spPr>
          <a:xfrm>
            <a:off x="10415111" y="4006215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782420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F4817-8D18-AD78-3683-D926E543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ptos Display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Methodology: A Data-Driven Approach</a:t>
            </a:r>
            <a:br>
              <a:rPr lang="en-US" b="1" dirty="0">
                <a:latin typeface="Aptos Display" panose="020B0004020202020204" pitchFamily="34" charset="0"/>
              </a:rPr>
            </a:b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37CB41A-9CC8-1D1E-BE90-E5BFFCD021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3430" y="2122858"/>
            <a:ext cx="3795556" cy="1837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Data Extraction &amp; Cleaning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Ensuring data quality and integrity is the first step for accurate analysis</a:t>
            </a:r>
            <a:r>
              <a:rPr lang="en-US" sz="2000" dirty="0"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853A1DE9-3E6E-BE7A-5B2F-2A308FF7891E}"/>
              </a:ext>
            </a:extLst>
          </p:cNvPr>
          <p:cNvSpPr/>
          <p:nvPr/>
        </p:nvSpPr>
        <p:spPr>
          <a:xfrm flipV="1">
            <a:off x="513430" y="1955691"/>
            <a:ext cx="3795556" cy="71815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E6D576-9D80-7510-5239-5EC20EBABB31}"/>
              </a:ext>
            </a:extLst>
          </p:cNvPr>
          <p:cNvSpPr txBox="1"/>
          <p:nvPr/>
        </p:nvSpPr>
        <p:spPr>
          <a:xfrm>
            <a:off x="443278" y="1523521"/>
            <a:ext cx="61645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800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43DA253D-EA6D-A9F6-E2CB-9CCA4EE03491}"/>
              </a:ext>
            </a:extLst>
          </p:cNvPr>
          <p:cNvSpPr/>
          <p:nvPr/>
        </p:nvSpPr>
        <p:spPr>
          <a:xfrm flipV="1">
            <a:off x="4379138" y="1955690"/>
            <a:ext cx="3795556" cy="71815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17321D9F-079E-DA67-B8B2-2BC90698EBA4}"/>
              </a:ext>
            </a:extLst>
          </p:cNvPr>
          <p:cNvSpPr/>
          <p:nvPr/>
        </p:nvSpPr>
        <p:spPr>
          <a:xfrm flipV="1">
            <a:off x="8244846" y="1955689"/>
            <a:ext cx="3795556" cy="71815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42A93F-0BC2-E619-6722-B1A2B7BC6A0E}"/>
              </a:ext>
            </a:extLst>
          </p:cNvPr>
          <p:cNvSpPr txBox="1"/>
          <p:nvPr/>
        </p:nvSpPr>
        <p:spPr>
          <a:xfrm>
            <a:off x="4308986" y="2195338"/>
            <a:ext cx="3865708" cy="1169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50"/>
              </a:lnSpc>
            </a:pPr>
            <a:r>
              <a:rPr lang="en-US" sz="20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Exploratory Data Analysis (EDA)</a:t>
            </a:r>
            <a:endParaRPr lang="en-US" sz="2000" b="1" dirty="0">
              <a:latin typeface="Times New Roman" panose="02020603050405020304" pitchFamily="18" charset="0"/>
              <a:ea typeface="Inter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2850"/>
              </a:lnSpc>
            </a:pPr>
            <a:r>
              <a:rPr lang="en-US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Visualizing data to uncover initial patterns, anomalies, and relationships.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995675-9675-82D2-DFFB-726C2943661A}"/>
              </a:ext>
            </a:extLst>
          </p:cNvPr>
          <p:cNvSpPr txBox="1"/>
          <p:nvPr/>
        </p:nvSpPr>
        <p:spPr>
          <a:xfrm>
            <a:off x="4379138" y="1547083"/>
            <a:ext cx="732034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309D94-54A3-2277-956C-6C6B4907EE3D}"/>
              </a:ext>
            </a:extLst>
          </p:cNvPr>
          <p:cNvSpPr txBox="1"/>
          <p:nvPr/>
        </p:nvSpPr>
        <p:spPr>
          <a:xfrm>
            <a:off x="8174694" y="1547083"/>
            <a:ext cx="649841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113FA1-2F56-41B9-2B46-8FF85291D3F9}"/>
              </a:ext>
            </a:extLst>
          </p:cNvPr>
          <p:cNvSpPr txBox="1"/>
          <p:nvPr/>
        </p:nvSpPr>
        <p:spPr>
          <a:xfrm>
            <a:off x="8244846" y="2231015"/>
            <a:ext cx="3601257" cy="1492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Feature Engineering</a:t>
            </a:r>
          </a:p>
          <a:p>
            <a:pPr>
              <a:lnSpc>
                <a:spcPts val="2750"/>
              </a:lnSpc>
            </a:pPr>
            <a:r>
              <a:rPr lang="en-US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Creating new variables from existing ones to enhance model performance.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2126C3C5-F08F-DC68-2AD8-639BF8698CCF}"/>
              </a:ext>
            </a:extLst>
          </p:cNvPr>
          <p:cNvSpPr/>
          <p:nvPr/>
        </p:nvSpPr>
        <p:spPr>
          <a:xfrm flipV="1">
            <a:off x="583581" y="4285662"/>
            <a:ext cx="4738432" cy="45719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39" name="Shape 2">
            <a:extLst>
              <a:ext uri="{FF2B5EF4-FFF2-40B4-BE49-F238E27FC236}">
                <a16:creationId xmlns:a16="http://schemas.microsoft.com/office/drawing/2014/main" id="{140BED85-FDCF-F825-21F5-1796969C9750}"/>
              </a:ext>
            </a:extLst>
          </p:cNvPr>
          <p:cNvSpPr/>
          <p:nvPr/>
        </p:nvSpPr>
        <p:spPr>
          <a:xfrm flipV="1">
            <a:off x="5404192" y="4285661"/>
            <a:ext cx="4738432" cy="45719"/>
          </a:xfrm>
          <a:prstGeom prst="rect">
            <a:avLst/>
          </a:prstGeom>
          <a:solidFill>
            <a:srgbClr val="FDC4C4"/>
          </a:solidFill>
          <a:ln/>
        </p:spPr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6C9C8A-D589-68A2-D242-1A6C5BD35856}"/>
              </a:ext>
            </a:extLst>
          </p:cNvPr>
          <p:cNvSpPr txBox="1"/>
          <p:nvPr/>
        </p:nvSpPr>
        <p:spPr>
          <a:xfrm>
            <a:off x="583581" y="3876678"/>
            <a:ext cx="742308" cy="431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7225AD6-3B30-AD99-DF68-D6633C7BEC29}"/>
              </a:ext>
            </a:extLst>
          </p:cNvPr>
          <p:cNvSpPr txBox="1"/>
          <p:nvPr/>
        </p:nvSpPr>
        <p:spPr>
          <a:xfrm>
            <a:off x="5404192" y="3869154"/>
            <a:ext cx="1109624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8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243DF19-BD85-9DEA-1A0C-E24BE775D2F4}"/>
              </a:ext>
            </a:extLst>
          </p:cNvPr>
          <p:cNvSpPr txBox="1"/>
          <p:nvPr/>
        </p:nvSpPr>
        <p:spPr>
          <a:xfrm>
            <a:off x="513430" y="4465692"/>
            <a:ext cx="4808583" cy="149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Statistical Modeling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750"/>
              </a:lnSpc>
            </a:pPr>
            <a:r>
              <a:rPr lang="en-US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Applying appropriate statistical techniques to validate hypotheses and predict future trends</a:t>
            </a:r>
            <a:r>
              <a:rPr lang="en-US" sz="2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000" dirty="0"/>
          </a:p>
          <a:p>
            <a:pPr marL="0" indent="0" algn="l">
              <a:lnSpc>
                <a:spcPts val="275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997FC8-505E-EAE7-7A08-FAEE05331A83}"/>
              </a:ext>
            </a:extLst>
          </p:cNvPr>
          <p:cNvSpPr txBox="1"/>
          <p:nvPr/>
        </p:nvSpPr>
        <p:spPr>
          <a:xfrm>
            <a:off x="5404192" y="4472298"/>
            <a:ext cx="4962433" cy="149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Reporting &amp; Visualization</a:t>
            </a:r>
          </a:p>
          <a:p>
            <a:pPr>
              <a:lnSpc>
                <a:spcPts val="2750"/>
              </a:lnSpc>
            </a:pPr>
            <a:r>
              <a:rPr lang="en-US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Communicating findings clearly and effectively through interactive dashboards and reports.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96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1C491-D95E-1C20-DC97-FF768A1DC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Segmentation: Tailoring Strategies</a:t>
            </a:r>
            <a:br>
              <a:rPr lang="en-US" dirty="0"/>
            </a:br>
            <a:endParaRPr lang="en-IN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ECEBF54-3EB0-412F-E564-F4A1AC5E2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218" y="1959189"/>
            <a:ext cx="4351338" cy="4351338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216D9035-66FE-D20E-872D-B6C2CE74A9C8}"/>
              </a:ext>
            </a:extLst>
          </p:cNvPr>
          <p:cNvSpPr/>
          <p:nvPr/>
        </p:nvSpPr>
        <p:spPr>
          <a:xfrm>
            <a:off x="5560921" y="1913469"/>
            <a:ext cx="6316861" cy="91440"/>
          </a:xfrm>
          <a:prstGeom prst="roundRect">
            <a:avLst>
              <a:gd name="adj" fmla="val 34703"/>
            </a:avLst>
          </a:prstGeom>
          <a:solidFill>
            <a:srgbClr val="FDC4C4"/>
          </a:solidFill>
          <a:ln/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E169983-FFCE-BC42-956B-90CA3CDF10AF}"/>
              </a:ext>
            </a:extLst>
          </p:cNvPr>
          <p:cNvSpPr/>
          <p:nvPr/>
        </p:nvSpPr>
        <p:spPr>
          <a:xfrm>
            <a:off x="5682498" y="4439200"/>
            <a:ext cx="6316861" cy="91440"/>
          </a:xfrm>
          <a:prstGeom prst="roundRect">
            <a:avLst>
              <a:gd name="adj" fmla="val 34703"/>
            </a:avLst>
          </a:prstGeom>
          <a:solidFill>
            <a:srgbClr val="FDC4C4"/>
          </a:solidFill>
          <a:ln/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58DA21F-7C7A-AA77-D84D-8178FE89E891}"/>
              </a:ext>
            </a:extLst>
          </p:cNvPr>
          <p:cNvSpPr/>
          <p:nvPr/>
        </p:nvSpPr>
        <p:spPr>
          <a:xfrm>
            <a:off x="8446554" y="1687607"/>
            <a:ext cx="634603" cy="634603"/>
          </a:xfrm>
          <a:prstGeom prst="roundRect">
            <a:avLst>
              <a:gd name="adj" fmla="val 144090"/>
            </a:avLst>
          </a:prstGeom>
          <a:solidFill>
            <a:srgbClr val="FDC4C4"/>
          </a:solidFill>
          <a:ln/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0571820-79D5-289B-2CE5-DD504E2534B9}"/>
              </a:ext>
            </a:extLst>
          </p:cNvPr>
          <p:cNvSpPr/>
          <p:nvPr/>
        </p:nvSpPr>
        <p:spPr>
          <a:xfrm>
            <a:off x="8402049" y="4213338"/>
            <a:ext cx="634603" cy="634603"/>
          </a:xfrm>
          <a:prstGeom prst="roundRect">
            <a:avLst>
              <a:gd name="adj" fmla="val 144090"/>
            </a:avLst>
          </a:prstGeom>
          <a:solidFill>
            <a:srgbClr val="FDC4C4"/>
          </a:solidFill>
          <a:ln/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07353D-E629-62EC-3777-E522BDA61C28}"/>
              </a:ext>
            </a:extLst>
          </p:cNvPr>
          <p:cNvSpPr txBox="1"/>
          <p:nvPr/>
        </p:nvSpPr>
        <p:spPr>
          <a:xfrm>
            <a:off x="8572499" y="1729575"/>
            <a:ext cx="382712" cy="45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843EBA-8D06-FFFB-D099-321E1E0BF22B}"/>
              </a:ext>
            </a:extLst>
          </p:cNvPr>
          <p:cNvSpPr txBox="1"/>
          <p:nvPr/>
        </p:nvSpPr>
        <p:spPr>
          <a:xfrm>
            <a:off x="8521128" y="4209586"/>
            <a:ext cx="434083" cy="45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Instrument Sans Medium" pitchFamily="34" charset="0"/>
              </a:rPr>
              <a:t>2</a:t>
            </a: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EFB449-34C2-50FC-878C-C91A8BB208D5}"/>
              </a:ext>
            </a:extLst>
          </p:cNvPr>
          <p:cNvSpPr txBox="1"/>
          <p:nvPr/>
        </p:nvSpPr>
        <p:spPr>
          <a:xfrm>
            <a:off x="5560921" y="2390753"/>
            <a:ext cx="6097712" cy="1750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Sales by Customer Segment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Understand purchasing behavior and preferences of different customer groups.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D9712B-7A72-CA9E-6CB6-5B623E48783E}"/>
              </a:ext>
            </a:extLst>
          </p:cNvPr>
          <p:cNvSpPr txBox="1"/>
          <p:nvPr/>
        </p:nvSpPr>
        <p:spPr>
          <a:xfrm>
            <a:off x="5670494" y="4873043"/>
            <a:ext cx="6097712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Profit by Customer Segment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Assess the profitability contributions of each customer segment.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32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3940D-AFA2-9509-4ABB-AF796AD44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ptos Display" panose="020B0004020202020204" pitchFamily="34" charset="0"/>
              </a:rPr>
              <a:t>Sales by Month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9BA77-E0D9-64DE-F44E-B1F9FAC9E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2199"/>
            <a:ext cx="10515600" cy="4158189"/>
          </a:xfrm>
        </p:spPr>
      </p:pic>
    </p:spTree>
    <p:extLst>
      <p:ext uri="{BB962C8B-B14F-4D97-AF65-F5344CB8AC3E}">
        <p14:creationId xmlns:p14="http://schemas.microsoft.com/office/powerpoint/2010/main" val="3160373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1253-6BC5-5161-BC46-8AE3D546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ptos Display" panose="020B0004020202020204" pitchFamily="34" charset="0"/>
              </a:rPr>
              <a:t>Sales Analysis by Category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D2D6ED-04D6-AB51-AB46-6BE4B7555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2199"/>
            <a:ext cx="10515600" cy="4158189"/>
          </a:xfrm>
        </p:spPr>
      </p:pic>
    </p:spTree>
    <p:extLst>
      <p:ext uri="{BB962C8B-B14F-4D97-AF65-F5344CB8AC3E}">
        <p14:creationId xmlns:p14="http://schemas.microsoft.com/office/powerpoint/2010/main" val="3497920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E467-2FFF-23A1-C3D2-3E88D957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ptos Display" panose="020B0004020202020204" pitchFamily="34" charset="0"/>
              </a:rPr>
              <a:t>Sales Analysis by Sub-Category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E44DBE-3FD9-75DC-AA93-CD47657573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2199"/>
            <a:ext cx="10515600" cy="4158189"/>
          </a:xfrm>
        </p:spPr>
      </p:pic>
    </p:spTree>
    <p:extLst>
      <p:ext uri="{BB962C8B-B14F-4D97-AF65-F5344CB8AC3E}">
        <p14:creationId xmlns:p14="http://schemas.microsoft.com/office/powerpoint/2010/main" val="2829635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53D5-CAD3-0ECD-47F6-CEDEAC5D9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ptos Display" panose="020B0004020202020204" pitchFamily="34" charset="0"/>
              </a:rPr>
              <a:t>Monthly Profit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C43F8D-DCE9-0B0E-7138-2F0A5F456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2199"/>
            <a:ext cx="10515600" cy="4158189"/>
          </a:xfrm>
        </p:spPr>
      </p:pic>
    </p:spTree>
    <p:extLst>
      <p:ext uri="{BB962C8B-B14F-4D97-AF65-F5344CB8AC3E}">
        <p14:creationId xmlns:p14="http://schemas.microsoft.com/office/powerpoint/2010/main" val="882282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FC33F-8ED7-2EF2-DDDD-60C578843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ptos Display" panose="020B0004020202020204" pitchFamily="34" charset="0"/>
              </a:rPr>
              <a:t>Profit Analysis by Category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01FF27-E44F-69D3-71F8-F5EB71775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2199"/>
            <a:ext cx="10515600" cy="4158189"/>
          </a:xfrm>
        </p:spPr>
      </p:pic>
    </p:spTree>
    <p:extLst>
      <p:ext uri="{BB962C8B-B14F-4D97-AF65-F5344CB8AC3E}">
        <p14:creationId xmlns:p14="http://schemas.microsoft.com/office/powerpoint/2010/main" val="2456517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3A5D-0124-7931-9870-F1EC7741A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ptos Display" panose="020B0004020202020204" pitchFamily="34" charset="0"/>
              </a:rPr>
              <a:t>Profit Analysis by Sub-Category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640B60-75C0-5346-E770-686C9C2A0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2199"/>
            <a:ext cx="10515600" cy="4158189"/>
          </a:xfrm>
        </p:spPr>
      </p:pic>
    </p:spTree>
    <p:extLst>
      <p:ext uri="{BB962C8B-B14F-4D97-AF65-F5344CB8AC3E}">
        <p14:creationId xmlns:p14="http://schemas.microsoft.com/office/powerpoint/2010/main" val="2215830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C924-A29A-2C32-F873-F08EFDEE4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56854"/>
            <a:ext cx="11353800" cy="1269448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Aptos Display" panose="020B0004020202020204" pitchFamily="34" charset="0"/>
              </a:rPr>
              <a:t>Sales and Profit Analysis by Customer Segment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568E18-E064-81E0-0C3D-847CA4C39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2199"/>
            <a:ext cx="10515600" cy="4158189"/>
          </a:xfrm>
        </p:spPr>
      </p:pic>
    </p:spTree>
    <p:extLst>
      <p:ext uri="{BB962C8B-B14F-4D97-AF65-F5344CB8AC3E}">
        <p14:creationId xmlns:p14="http://schemas.microsoft.com/office/powerpoint/2010/main" val="3160536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E54A0-19F5-B94D-AE27-456DB9915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07653" y="35485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ptos Display" panose="020B0004020202020204" pitchFamily="34" charset="0"/>
                <a:ea typeface="Instrument Sans Medium" pitchFamily="34" charset="-122"/>
                <a:cs typeface="Instrument Sans Medium" pitchFamily="34" charset="-120"/>
              </a:rPr>
              <a:t>Conclusion</a:t>
            </a:r>
            <a:endParaRPr lang="en-IN" b="1" dirty="0">
              <a:latin typeface="Aptos Display" panose="020B00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33E35F-696F-D4AA-D32A-7AC0954B2D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6947" y="2491509"/>
            <a:ext cx="5486400" cy="280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provides deeper insights into customer and sales behavior.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E-commerce companies can leverage these findings to improve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of data will help sustain growth in a competitive market.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916ECD49-7845-9A01-96F9-EC8EE1A3A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0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297</Words>
  <Application>Microsoft Office PowerPoint</Application>
  <PresentationFormat>Widescreen</PresentationFormat>
  <Paragraphs>51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 Display</vt:lpstr>
      <vt:lpstr>Arial</vt:lpstr>
      <vt:lpstr>Calibri</vt:lpstr>
      <vt:lpstr>Calibri Light</vt:lpstr>
      <vt:lpstr>Instrument Sans Light</vt:lpstr>
      <vt:lpstr>Instrument Sans Medium</vt:lpstr>
      <vt:lpstr>Inter</vt:lpstr>
      <vt:lpstr>Times New Roman</vt:lpstr>
      <vt:lpstr>Office Theme</vt:lpstr>
      <vt:lpstr>E-Commerce Sales Analysis </vt:lpstr>
      <vt:lpstr>E- Commerce Sales Analysis</vt:lpstr>
      <vt:lpstr>Key Objectives: Unlocking Sales Performance</vt:lpstr>
      <vt:lpstr>Methodology: A Data-Driven Approach </vt:lpstr>
      <vt:lpstr>Customer Segmentation: Tailoring Strategies </vt:lpstr>
      <vt:lpstr>Sales by Month</vt:lpstr>
      <vt:lpstr>Sales Analysis by Category</vt:lpstr>
      <vt:lpstr>Sales Analysis by Sub-Category</vt:lpstr>
      <vt:lpstr>Monthly Profit Analysis</vt:lpstr>
      <vt:lpstr>Profit Analysis by Category</vt:lpstr>
      <vt:lpstr>Profit Analysis by Sub-Category</vt:lpstr>
      <vt:lpstr>Sales and Profit Analysis by Customer Segment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Manju MB</dc:creator>
  <cp:lastModifiedBy>Manju MB</cp:lastModifiedBy>
  <cp:revision>1</cp:revision>
  <dcterms:created xsi:type="dcterms:W3CDTF">2025-09-21T14:11:37Z</dcterms:created>
  <dcterms:modified xsi:type="dcterms:W3CDTF">2025-09-21T14:17:14Z</dcterms:modified>
</cp:coreProperties>
</file>